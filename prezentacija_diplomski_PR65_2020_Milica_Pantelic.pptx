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69" r:id="rId3"/>
    <p:sldId id="257" r:id="rId4"/>
    <p:sldId id="265" r:id="rId5"/>
    <p:sldId id="264" r:id="rId6"/>
    <p:sldId id="261" r:id="rId7"/>
    <p:sldId id="260" r:id="rId8"/>
    <p:sldId id="273" r:id="rId9"/>
    <p:sldId id="274" r:id="rId10"/>
    <p:sldId id="272" r:id="rId11"/>
    <p:sldId id="277" r:id="rId12"/>
    <p:sldId id="276" r:id="rId13"/>
    <p:sldId id="282" r:id="rId14"/>
    <p:sldId id="283" r:id="rId15"/>
    <p:sldId id="278" r:id="rId16"/>
    <p:sldId id="279" r:id="rId17"/>
    <p:sldId id="263" r:id="rId18"/>
    <p:sldId id="266" r:id="rId19"/>
    <p:sldId id="280" r:id="rId20"/>
    <p:sldId id="270" r:id="rId21"/>
    <p:sldId id="281" r:id="rId22"/>
  </p:sldIdLst>
  <p:sldSz cx="18288000" cy="10287000"/>
  <p:notesSz cx="6858000" cy="9144000"/>
  <p:embeddedFontLs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Bahnschrift" pitchFamily="34" charset="0"/>
      <p:regular r:id="rId28"/>
      <p:bold r:id="rId29"/>
    </p:embeddedFont>
    <p:embeddedFont>
      <p:font typeface="Sniglet" charset="0"/>
      <p:regular r:id="rId30"/>
    </p:embeddedFont>
    <p:embeddedFont>
      <p:font typeface="Calibri Light" pitchFamily="34" charset="0"/>
      <p:regular r:id="rId31"/>
      <p:italic r:id="rId32"/>
    </p:embeddedFont>
    <p:embeddedFont>
      <p:font typeface="Poppins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809" autoAdjust="0"/>
    <p:restoredTop sz="94622" autoAdjust="0"/>
  </p:normalViewPr>
  <p:slideViewPr>
    <p:cSldViewPr>
      <p:cViewPr>
        <p:scale>
          <a:sx n="100" d="100"/>
          <a:sy n="100" d="100"/>
        </p:scale>
        <p:origin x="2616" y="13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DC181-C3A3-4A83-9234-C541BF9220E7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FBAFF-49DF-46C9-9E71-90947D2227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9FBAFF-49DF-46C9-9E71-90947D22270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ver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cover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svg"/><Relationship Id="rId12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6.svg"/><Relationship Id="rId15" Type="http://schemas.openxmlformats.org/officeDocument/2006/relationships/image" Target="../media/image4.sv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4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4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C:\Users\Dell\Desktop\Diplomski.mp4" TargetMode="Externa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8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6167" y="1548663"/>
            <a:ext cx="2338040" cy="23380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81200" y="3162300"/>
            <a:ext cx="948092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sr-Cyrl-RS" sz="6000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Симулација функционалности протокола за преузимање електронске поште </a:t>
            </a:r>
            <a:endParaRPr lang="en-US" sz="6000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Sniglet" charset="0"/>
              <a:ea typeface="Sniglet"/>
              <a:cs typeface="Sniglet"/>
              <a:sym typeface="Snigle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791821" y="4157133"/>
            <a:ext cx="7140770" cy="71407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994381" y="3070886"/>
            <a:ext cx="4895539" cy="5168036"/>
          </a:xfrm>
          <a:custGeom>
            <a:avLst/>
            <a:gdLst/>
            <a:ahLst/>
            <a:cxnLst/>
            <a:rect l="l" t="t" r="r" b="b"/>
            <a:pathLst>
              <a:path w="4895539" h="5168036">
                <a:moveTo>
                  <a:pt x="0" y="0"/>
                </a:moveTo>
                <a:lnTo>
                  <a:pt x="4895539" y="0"/>
                </a:lnTo>
                <a:lnTo>
                  <a:pt x="4895539" y="5168035"/>
                </a:lnTo>
                <a:lnTo>
                  <a:pt x="0" y="5168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057400" y="6972300"/>
            <a:ext cx="9755001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Студент: Милица Пантелић </a:t>
            </a:r>
            <a:r>
              <a:rPr lang="en-U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PR65/2020</a:t>
            </a:r>
          </a:p>
          <a:p>
            <a:pPr algn="just">
              <a:lnSpc>
                <a:spcPts val="2659"/>
              </a:lnSpc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Ментор: Милана Бојанић</a:t>
            </a:r>
          </a:p>
          <a:p>
            <a:pPr algn="just">
              <a:lnSpc>
                <a:spcPts val="2659"/>
              </a:lnSpc>
            </a:pPr>
            <a:endParaRPr lang="en-US" sz="1899" dirty="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1577408" y="2559482"/>
            <a:ext cx="1214413" cy="12144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-505232" y="2559482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7" y="0"/>
                </a:lnTo>
                <a:lnTo>
                  <a:pt x="2397137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5" name="Picture 24" descr="1200px-Unins.svg_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667000" y="190500"/>
            <a:ext cx="2533288" cy="2556510"/>
          </a:xfrm>
          <a:prstGeom prst="rect">
            <a:avLst/>
          </a:prstGeom>
        </p:spPr>
      </p:pic>
      <p:pic>
        <p:nvPicPr>
          <p:cNvPr id="26" name="Picture 25" descr="ftn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030200" y="0"/>
            <a:ext cx="2449683" cy="27051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0" y="495300"/>
            <a:ext cx="8077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/>
              <a:t>УНИВЕРЗИТЕТ  У НОВОМ САДУ </a:t>
            </a:r>
          </a:p>
          <a:p>
            <a:pPr algn="ctr"/>
            <a:r>
              <a:rPr lang="ru-RU" sz="4000" b="1" dirty="0" smtClean="0"/>
              <a:t>ФАКУЛТЕТ ТЕХНИЧКИХ НАУКА У НОВОМ САДУ </a:t>
            </a:r>
            <a:endParaRPr lang="en-US" sz="4000" b="1" dirty="0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-1109494" y="4655613"/>
            <a:ext cx="4495664" cy="449566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94821" y="2325129"/>
            <a:ext cx="4343839" cy="4114800"/>
          </a:xfrm>
          <a:custGeom>
            <a:avLst/>
            <a:gdLst/>
            <a:ahLst/>
            <a:cxnLst/>
            <a:rect l="l" t="t" r="r" b="b"/>
            <a:pathLst>
              <a:path w="4343839" h="4114800">
                <a:moveTo>
                  <a:pt x="0" y="0"/>
                </a:moveTo>
                <a:lnTo>
                  <a:pt x="4343838" y="0"/>
                </a:lnTo>
                <a:lnTo>
                  <a:pt x="4343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916916" y="5048870"/>
            <a:ext cx="4583177" cy="3466549"/>
          </a:xfrm>
          <a:custGeom>
            <a:avLst/>
            <a:gdLst/>
            <a:ahLst/>
            <a:cxnLst/>
            <a:rect l="l" t="t" r="r" b="b"/>
            <a:pathLst>
              <a:path w="4583177" h="3466549">
                <a:moveTo>
                  <a:pt x="0" y="0"/>
                </a:moveTo>
                <a:lnTo>
                  <a:pt x="4583177" y="0"/>
                </a:lnTo>
                <a:lnTo>
                  <a:pt x="4583177" y="3466549"/>
                </a:lnTo>
                <a:lnTo>
                  <a:pt x="0" y="34665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-10800000">
            <a:off x="16709978" y="1720904"/>
            <a:ext cx="2661625" cy="266162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643653" y="2187285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48800" y="1181100"/>
            <a:ext cx="70307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Садржај: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7848600" y="2552700"/>
            <a:ext cx="8534400" cy="5332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Увод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Електронска пошта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Протоколи електронске поште 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Коришћене технологије и алати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Демонстрација рада апликације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Структура апликације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Резултати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Могућа проширења</a:t>
            </a:r>
          </a:p>
          <a:p>
            <a:pPr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Закључак</a:t>
            </a:r>
            <a:endParaRPr lang="en-US" sz="36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  <a:p>
            <a:pPr algn="just">
              <a:lnSpc>
                <a:spcPts val="2659"/>
              </a:lnSpc>
            </a:pPr>
            <a:endParaRPr lang="en-US" sz="36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81186" y="8234548"/>
            <a:ext cx="2788622" cy="278862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37248" y="2216306"/>
            <a:ext cx="1810143" cy="18101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666389" y="7354116"/>
            <a:ext cx="3232638" cy="2932884"/>
          </a:xfrm>
          <a:custGeom>
            <a:avLst/>
            <a:gdLst/>
            <a:ahLst/>
            <a:cxnLst/>
            <a:rect l="l" t="t" r="r" b="b"/>
            <a:pathLst>
              <a:path w="3232638" h="2932884">
                <a:moveTo>
                  <a:pt x="0" y="0"/>
                </a:moveTo>
                <a:lnTo>
                  <a:pt x="3232638" y="0"/>
                </a:lnTo>
                <a:lnTo>
                  <a:pt x="3232638" y="2932884"/>
                </a:lnTo>
                <a:lnTo>
                  <a:pt x="0" y="2932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389582" y="2581902"/>
            <a:ext cx="2836565" cy="2889094"/>
          </a:xfrm>
          <a:custGeom>
            <a:avLst/>
            <a:gdLst/>
            <a:ahLst/>
            <a:cxnLst/>
            <a:rect l="l" t="t" r="r" b="b"/>
            <a:pathLst>
              <a:path w="2836565" h="2889094">
                <a:moveTo>
                  <a:pt x="0" y="0"/>
                </a:moveTo>
                <a:lnTo>
                  <a:pt x="2836564" y="0"/>
                </a:lnTo>
                <a:lnTo>
                  <a:pt x="2836564" y="2889094"/>
                </a:lnTo>
                <a:lnTo>
                  <a:pt x="0" y="2889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10000" y="4229100"/>
            <a:ext cx="10720753" cy="4462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Циљ рада:</a:t>
            </a:r>
            <a:endParaRPr lang="sr-Cyrl-RS" sz="7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  <a:p>
            <a:pPr algn="just"/>
            <a:endParaRPr lang="sr-Cyrl-RS" sz="2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  <a:p>
            <a:pPr lvl="1"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Приказати начин рада </a:t>
            </a:r>
            <a:r>
              <a:rPr lang="en-U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IMAP </a:t>
            </a: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протокола </a:t>
            </a:r>
          </a:p>
          <a:p>
            <a:pPr lvl="1"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Приказати клијент-сервер модел у </a:t>
            </a:r>
            <a:r>
              <a:rPr lang="en-U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WPF </a:t>
            </a: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апликацији</a:t>
            </a:r>
          </a:p>
          <a:p>
            <a:pPr lvl="1" algn="just">
              <a:buFont typeface="Arial" pitchFamily="34" charset="0"/>
              <a:buChar char="•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Направити симулацију која омогућава :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пријем порука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читање порука 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брисање порука 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sr-Cyrl-RS" sz="3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манипулацију порукама  </a:t>
            </a:r>
            <a:endParaRPr lang="sr-Cyrl-RS" sz="36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24200" y="2781300"/>
            <a:ext cx="12694380" cy="1178015"/>
          </a:xfrm>
          <a:prstGeom prst="rect">
            <a:avLst/>
          </a:prstGeom>
          <a:ln w="19050"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639"/>
              </a:lnSpc>
              <a:spcBef>
                <a:spcPct val="0"/>
              </a:spcBef>
            </a:pPr>
            <a:r>
              <a:rPr lang="sr-Cyrl-RS" sz="6000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Увод</a:t>
            </a:r>
            <a:endParaRPr lang="en-US" sz="8000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1018" y="2901342"/>
            <a:ext cx="6362972" cy="63629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395493" y="4025429"/>
            <a:ext cx="4254023" cy="4114800"/>
          </a:xfrm>
          <a:custGeom>
            <a:avLst/>
            <a:gdLst/>
            <a:ahLst/>
            <a:cxnLst/>
            <a:rect l="l" t="t" r="r" b="b"/>
            <a:pathLst>
              <a:path w="4254023" h="4114800">
                <a:moveTo>
                  <a:pt x="0" y="0"/>
                </a:moveTo>
                <a:lnTo>
                  <a:pt x="4254023" y="0"/>
                </a:lnTo>
                <a:lnTo>
                  <a:pt x="4254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6600" y="5143500"/>
            <a:ext cx="112014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6600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Шта је електронска пошта?</a:t>
            </a:r>
            <a:endParaRPr lang="en-US" sz="6600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19" name="Freeform 16"/>
          <p:cNvSpPr/>
          <p:nvPr/>
        </p:nvSpPr>
        <p:spPr>
          <a:xfrm rot="573446">
            <a:off x="15686399" y="1183463"/>
            <a:ext cx="4024128" cy="3877796"/>
          </a:xfrm>
          <a:custGeom>
            <a:avLst/>
            <a:gdLst/>
            <a:ahLst/>
            <a:cxnLst/>
            <a:rect l="l" t="t" r="r" b="b"/>
            <a:pathLst>
              <a:path w="4024128" h="3877796">
                <a:moveTo>
                  <a:pt x="0" y="0"/>
                </a:moveTo>
                <a:lnTo>
                  <a:pt x="4024129" y="0"/>
                </a:lnTo>
                <a:lnTo>
                  <a:pt x="4024129" y="3877797"/>
                </a:lnTo>
                <a:lnTo>
                  <a:pt x="0" y="3877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81200" y="4686300"/>
            <a:ext cx="398339" cy="406320"/>
            <a:chOff x="0" y="0"/>
            <a:chExt cx="104912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81200" y="6134100"/>
            <a:ext cx="398339" cy="406320"/>
            <a:chOff x="0" y="0"/>
            <a:chExt cx="104912" cy="1070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81200" y="7658100"/>
            <a:ext cx="398339" cy="406320"/>
            <a:chOff x="0" y="0"/>
            <a:chExt cx="104912" cy="1070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716640" y="4123245"/>
            <a:ext cx="8446721" cy="8446721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2342976" y="5674491"/>
            <a:ext cx="4916324" cy="4871631"/>
          </a:xfrm>
          <a:custGeom>
            <a:avLst/>
            <a:gdLst/>
            <a:ahLst/>
            <a:cxnLst/>
            <a:rect l="l" t="t" r="r" b="b"/>
            <a:pathLst>
              <a:path w="4916324" h="4871631">
                <a:moveTo>
                  <a:pt x="0" y="0"/>
                </a:moveTo>
                <a:lnTo>
                  <a:pt x="4916324" y="0"/>
                </a:lnTo>
                <a:lnTo>
                  <a:pt x="4916324" y="4871631"/>
                </a:lnTo>
                <a:lnTo>
                  <a:pt x="0" y="4871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-2338471" y="1192045"/>
            <a:ext cx="3951455" cy="395145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76107" y="1963972"/>
            <a:ext cx="9401493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7599" u="none" strike="noStrike" dirty="0" smtClean="0">
                <a:ln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Протоколи електронске поште</a:t>
            </a:r>
            <a:endParaRPr lang="en-US" sz="7599" u="none" strike="noStrike" dirty="0">
              <a:ln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453271" y="4676942"/>
            <a:ext cx="8009856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b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SMTP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(</a:t>
            </a:r>
            <a:r>
              <a:rPr lang="en-US" sz="2400" i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Simple Mail Transfer Protocol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) – </a:t>
            </a: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за слање порука </a:t>
            </a:r>
          </a:p>
          <a:p>
            <a:pPr algn="just">
              <a:lnSpc>
                <a:spcPts val="2659"/>
              </a:lnSpc>
            </a:pP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Служи да шаље поруке од клијента ка серверу, или од сервера ка неком другом серверу</a:t>
            </a:r>
            <a:endParaRPr lang="en-US" sz="24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981200" y="4762500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38400" y="7658100"/>
            <a:ext cx="8516556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b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IMAP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(</a:t>
            </a:r>
            <a:r>
              <a:rPr lang="en-US" sz="2400" i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Internet Message Access Protocol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)</a:t>
            </a: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– за присуп порукама на серверу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. </a:t>
            </a: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Поруке остају на серверу, читање је могуће са више различитих уређаја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81200" y="6210300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38400" y="6134100"/>
            <a:ext cx="8009856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2400" b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POP3</a:t>
            </a: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(</a:t>
            </a:r>
            <a:r>
              <a:rPr lang="en-US" sz="2400" i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Post Office Protocol v3</a:t>
            </a:r>
            <a:r>
              <a:rPr lang="en-U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) </a:t>
            </a: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– за локално преузимање порука</a:t>
            </a:r>
          </a:p>
          <a:p>
            <a:pPr algn="just">
              <a:lnSpc>
                <a:spcPts val="2659"/>
              </a:lnSpc>
            </a:pPr>
            <a:r>
              <a:rPr lang="sr-Cyrl-RS" sz="24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најчешће брише поруке са сервера након преузимања, ако дође до промене уређаја поруке заувек нестају </a:t>
            </a:r>
            <a:endParaRPr lang="en-US" sz="24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981200" y="7734300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8854" y="6979119"/>
            <a:ext cx="7325893" cy="732589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46409" y="-2011452"/>
            <a:ext cx="7325893" cy="732589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762912" y="2712051"/>
            <a:ext cx="2874126" cy="2602391"/>
          </a:xfrm>
          <a:custGeom>
            <a:avLst/>
            <a:gdLst/>
            <a:ahLst/>
            <a:cxnLst/>
            <a:rect l="l" t="t" r="r" b="b"/>
            <a:pathLst>
              <a:path w="2874126" h="2602391">
                <a:moveTo>
                  <a:pt x="0" y="0"/>
                </a:moveTo>
                <a:lnTo>
                  <a:pt x="2874127" y="0"/>
                </a:lnTo>
                <a:lnTo>
                  <a:pt x="2874127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213380" y="6402607"/>
            <a:ext cx="3969746" cy="2848292"/>
          </a:xfrm>
          <a:custGeom>
            <a:avLst/>
            <a:gdLst/>
            <a:ahLst/>
            <a:cxnLst/>
            <a:rect l="l" t="t" r="r" b="b"/>
            <a:pathLst>
              <a:path w="3969746" h="2848292">
                <a:moveTo>
                  <a:pt x="0" y="0"/>
                </a:moveTo>
                <a:lnTo>
                  <a:pt x="3969745" y="0"/>
                </a:lnTo>
                <a:lnTo>
                  <a:pt x="3969745" y="2848292"/>
                </a:lnTo>
                <a:lnTo>
                  <a:pt x="0" y="28482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213080" y="2712051"/>
            <a:ext cx="2674626" cy="2446067"/>
          </a:xfrm>
          <a:custGeom>
            <a:avLst/>
            <a:gdLst/>
            <a:ahLst/>
            <a:cxnLst/>
            <a:rect l="l" t="t" r="r" b="b"/>
            <a:pathLst>
              <a:path w="2674626" h="2446067">
                <a:moveTo>
                  <a:pt x="0" y="0"/>
                </a:moveTo>
                <a:lnTo>
                  <a:pt x="2674626" y="0"/>
                </a:lnTo>
                <a:lnTo>
                  <a:pt x="2674626" y="2446067"/>
                </a:lnTo>
                <a:lnTo>
                  <a:pt x="0" y="24460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2600" y="2781300"/>
            <a:ext cx="837842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5400" u="none" strike="noStrike" dirty="0" smtClean="0">
                <a:ln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Коришћене технологије</a:t>
            </a:r>
            <a:endParaRPr lang="en-US" sz="5400" u="none" strike="noStrike" dirty="0">
              <a:ln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11355" y="5596268"/>
            <a:ext cx="8095645" cy="912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5400" dirty="0" smtClean="0">
                <a:ln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Коришћени алати</a:t>
            </a:r>
            <a:endParaRPr lang="en-US" sz="5400" u="none" strike="noStrike" dirty="0">
              <a:ln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28800" y="3848100"/>
            <a:ext cx="6168620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err="1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.Net</a:t>
            </a:r>
            <a:r>
              <a:rPr lang="en-U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</a:t>
            </a: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платформа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С# програмски језик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WPF (</a:t>
            </a:r>
            <a:r>
              <a:rPr lang="en-US" sz="2800" i="1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Windows Presentation </a:t>
            </a:r>
            <a:r>
              <a:rPr lang="en-US" sz="2800" i="1" dirty="0" err="1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Faundation</a:t>
            </a:r>
            <a:r>
              <a:rPr lang="en-US" sz="1899" dirty="0" smtClean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lang="en-US" sz="1899" dirty="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811355" y="6921969"/>
            <a:ext cx="5651367" cy="35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buFont typeface="Arial" pitchFamily="34" charset="0"/>
              <a:buChar char="•"/>
            </a:pPr>
            <a:r>
              <a:rPr lang="en-U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Visual Studio 2022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1600" y="1866900"/>
            <a:ext cx="150114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Cyrl-RS" sz="7599" u="none" strike="noStrike" dirty="0" smtClean="0">
                <a:ln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Демонстрација рада апликације</a:t>
            </a:r>
            <a:endParaRPr lang="en-US" sz="7599" u="none" strike="noStrike" dirty="0">
              <a:ln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5943600" y="3543300"/>
            <a:ext cx="6630146" cy="5145315"/>
            <a:chOff x="5943600" y="3543300"/>
            <a:chExt cx="6630146" cy="5145315"/>
          </a:xfrm>
        </p:grpSpPr>
        <p:sp>
          <p:nvSpPr>
            <p:cNvPr id="34" name="Freeform 11"/>
            <p:cNvSpPr/>
            <p:nvPr/>
          </p:nvSpPr>
          <p:spPr>
            <a:xfrm flipH="1">
              <a:off x="5943600" y="3543300"/>
              <a:ext cx="6630146" cy="5145315"/>
            </a:xfrm>
            <a:custGeom>
              <a:avLst/>
              <a:gdLst/>
              <a:ahLst/>
              <a:cxnLst/>
              <a:rect l="l" t="t" r="r" b="b"/>
              <a:pathLst>
                <a:path w="6553946" h="4992915">
                  <a:moveTo>
                    <a:pt x="6553946" y="0"/>
                  </a:moveTo>
                  <a:lnTo>
                    <a:pt x="0" y="0"/>
                  </a:lnTo>
                  <a:lnTo>
                    <a:pt x="0" y="4992915"/>
                  </a:lnTo>
                  <a:lnTo>
                    <a:pt x="6553946" y="4992915"/>
                  </a:lnTo>
                  <a:lnTo>
                    <a:pt x="655394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="" xmlns:asvg="http://schemas.microsoft.com/office/drawing/2016/SVG/main" r:embed=""/>
                  </a:ext>
                </a:extLst>
              </a:blip>
              <a:stretch>
                <a:fillRect/>
              </a:stretch>
            </a:blipFill>
          </p:spPr>
        </p:sp>
        <p:pic>
          <p:nvPicPr>
            <p:cNvPr id="35" name="Picture 34" descr="slika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4600" y="4991100"/>
              <a:ext cx="3669406" cy="1981200"/>
            </a:xfrm>
            <a:prstGeom prst="rect">
              <a:avLst/>
            </a:prstGeom>
          </p:spPr>
        </p:pic>
        <p:pic>
          <p:nvPicPr>
            <p:cNvPr id="36" name="Picture 35" descr="play-button-icon-png-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0" y="5448300"/>
              <a:ext cx="1143000" cy="114300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plomski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1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9"/>
          <p:cNvCxnSpPr>
            <a:stCxn id="40" idx="2"/>
          </p:cNvCxnSpPr>
          <p:nvPr/>
        </p:nvCxnSpPr>
        <p:spPr>
          <a:xfrm rot="10800000" flipH="1" flipV="1">
            <a:off x="10591800" y="7924800"/>
            <a:ext cx="1295400" cy="38100"/>
          </a:xfrm>
          <a:prstGeom prst="line">
            <a:avLst/>
          </a:prstGeom>
          <a:ln w="3810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7"/>
          <p:cNvGrpSpPr/>
          <p:nvPr/>
        </p:nvGrpSpPr>
        <p:grpSpPr>
          <a:xfrm rot="-10800000">
            <a:off x="-1518187" y="2226942"/>
            <a:ext cx="3725622" cy="372562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20"/>
          <p:cNvGrpSpPr/>
          <p:nvPr/>
        </p:nvGrpSpPr>
        <p:grpSpPr>
          <a:xfrm>
            <a:off x="15407265" y="8888630"/>
            <a:ext cx="3725622" cy="372562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939561" y="7097985"/>
            <a:ext cx="2639478" cy="2944651"/>
          </a:xfrm>
          <a:custGeom>
            <a:avLst/>
            <a:gdLst/>
            <a:ahLst/>
            <a:cxnLst/>
            <a:rect l="l" t="t" r="r" b="b"/>
            <a:pathLst>
              <a:path w="2639478" h="2944651">
                <a:moveTo>
                  <a:pt x="0" y="0"/>
                </a:moveTo>
                <a:lnTo>
                  <a:pt x="2639478" y="0"/>
                </a:lnTo>
                <a:lnTo>
                  <a:pt x="2639478" y="2944651"/>
                </a:lnTo>
                <a:lnTo>
                  <a:pt x="0" y="294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71800" y="1790700"/>
            <a:ext cx="13182200" cy="927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Cyrl-RS" sz="6000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Calibri Light" pitchFamily="34" charset="0"/>
                <a:cs typeface="Calibri Light" pitchFamily="34" charset="0"/>
                <a:sym typeface="Sniglet"/>
              </a:rPr>
              <a:t>Структура апликације</a:t>
            </a:r>
            <a:endParaRPr lang="en-US" sz="6000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Calibri Light" pitchFamily="34" charset="0"/>
              <a:cs typeface="Calibri Light" pitchFamily="34" charset="0"/>
              <a:sym typeface="Sniglet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1887200" y="4533900"/>
            <a:ext cx="4038600" cy="1066800"/>
            <a:chOff x="3886200" y="4533900"/>
            <a:chExt cx="4038600" cy="1066800"/>
          </a:xfrm>
        </p:grpSpPr>
        <p:grpSp>
          <p:nvGrpSpPr>
            <p:cNvPr id="8" name="Group 8"/>
            <p:cNvGrpSpPr/>
            <p:nvPr/>
          </p:nvGrpSpPr>
          <p:grpSpPr>
            <a:xfrm>
              <a:off x="3886200" y="4533900"/>
              <a:ext cx="4038600" cy="1066800"/>
              <a:chOff x="0" y="0"/>
              <a:chExt cx="435195" cy="1281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35195" cy="128175"/>
              </a:xfrm>
              <a:custGeom>
                <a:avLst/>
                <a:gdLst/>
                <a:ahLst/>
                <a:cxnLst/>
                <a:rect l="l" t="t" r="r" b="b"/>
                <a:pathLst>
                  <a:path w="435195" h="128175">
                    <a:moveTo>
                      <a:pt x="64087" y="0"/>
                    </a:moveTo>
                    <a:lnTo>
                      <a:pt x="371108" y="0"/>
                    </a:lnTo>
                    <a:cubicBezTo>
                      <a:pt x="406503" y="0"/>
                      <a:pt x="435195" y="28693"/>
                      <a:pt x="435195" y="64087"/>
                    </a:cubicBezTo>
                    <a:lnTo>
                      <a:pt x="435195" y="64087"/>
                    </a:lnTo>
                    <a:cubicBezTo>
                      <a:pt x="435195" y="99482"/>
                      <a:pt x="406503" y="128175"/>
                      <a:pt x="371108" y="128175"/>
                    </a:cubicBezTo>
                    <a:lnTo>
                      <a:pt x="64087" y="128175"/>
                    </a:lnTo>
                    <a:cubicBezTo>
                      <a:pt x="28693" y="128175"/>
                      <a:pt x="0" y="99482"/>
                      <a:pt x="0" y="64087"/>
                    </a:cubicBezTo>
                    <a:lnTo>
                      <a:pt x="0" y="64087"/>
                    </a:lnTo>
                    <a:cubicBezTo>
                      <a:pt x="0" y="28693"/>
                      <a:pt x="28693" y="0"/>
                      <a:pt x="6408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435195" cy="1853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114800" y="4762500"/>
              <a:ext cx="3657600" cy="6924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sr-Cyrl-RS" sz="3600" dirty="0" smtClean="0">
                  <a:solidFill>
                    <a:srgbClr val="1B4440"/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  <a:sym typeface="Poppins"/>
                </a:rPr>
                <a:t>Логички (</a:t>
              </a:r>
              <a:r>
                <a:rPr lang="en-US" sz="3600" i="1" dirty="0" smtClean="0">
                  <a:solidFill>
                    <a:srgbClr val="1B4440"/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  <a:sym typeface="Poppins"/>
                </a:rPr>
                <a:t>backend</a:t>
              </a:r>
              <a:r>
                <a:rPr lang="en-US" sz="3600" dirty="0" smtClean="0">
                  <a:solidFill>
                    <a:srgbClr val="1B4440"/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  <a:sym typeface="Poppins"/>
                </a:rPr>
                <a:t>) </a:t>
              </a:r>
              <a:r>
                <a:rPr lang="sr-Cyrl-RS" sz="3600" dirty="0" smtClean="0">
                  <a:solidFill>
                    <a:srgbClr val="1B4440"/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  <a:sym typeface="Poppins"/>
                </a:rPr>
                <a:t>део</a:t>
              </a:r>
              <a:endParaRPr lang="en-US" sz="3600" dirty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endParaRPr>
            </a:p>
          </p:txBody>
        </p:sp>
      </p:grpSp>
      <p:sp>
        <p:nvSpPr>
          <p:cNvPr id="38" name="TextBox 10"/>
          <p:cNvSpPr txBox="1"/>
          <p:nvPr/>
        </p:nvSpPr>
        <p:spPr>
          <a:xfrm>
            <a:off x="14705602" y="4076700"/>
            <a:ext cx="3353798" cy="127836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35" name="Group 34"/>
          <p:cNvGrpSpPr/>
          <p:nvPr/>
        </p:nvGrpSpPr>
        <p:grpSpPr>
          <a:xfrm>
            <a:off x="11887200" y="7505700"/>
            <a:ext cx="3353798" cy="914400"/>
            <a:chOff x="11963400" y="4381500"/>
            <a:chExt cx="3353798" cy="914400"/>
          </a:xfrm>
        </p:grpSpPr>
        <p:sp>
          <p:nvSpPr>
            <p:cNvPr id="37" name="Freeform 9"/>
            <p:cNvSpPr/>
            <p:nvPr/>
          </p:nvSpPr>
          <p:spPr>
            <a:xfrm>
              <a:off x="11963400" y="4381500"/>
              <a:ext cx="3353798" cy="914400"/>
            </a:xfrm>
            <a:custGeom>
              <a:avLst/>
              <a:gdLst/>
              <a:ahLst/>
              <a:cxnLst/>
              <a:rect l="l" t="t" r="r" b="b"/>
              <a:pathLst>
                <a:path w="435195" h="128175">
                  <a:moveTo>
                    <a:pt x="64087" y="0"/>
                  </a:moveTo>
                  <a:lnTo>
                    <a:pt x="371108" y="0"/>
                  </a:lnTo>
                  <a:cubicBezTo>
                    <a:pt x="406503" y="0"/>
                    <a:pt x="435195" y="28693"/>
                    <a:pt x="435195" y="64087"/>
                  </a:cubicBezTo>
                  <a:lnTo>
                    <a:pt x="435195" y="64087"/>
                  </a:lnTo>
                  <a:cubicBezTo>
                    <a:pt x="435195" y="99482"/>
                    <a:pt x="406503" y="128175"/>
                    <a:pt x="371108" y="128175"/>
                  </a:cubicBezTo>
                  <a:lnTo>
                    <a:pt x="64087" y="128175"/>
                  </a:lnTo>
                  <a:cubicBezTo>
                    <a:pt x="28693" y="128175"/>
                    <a:pt x="0" y="99482"/>
                    <a:pt x="0" y="64087"/>
                  </a:cubicBezTo>
                  <a:lnTo>
                    <a:pt x="0" y="64087"/>
                  </a:lnTo>
                  <a:cubicBezTo>
                    <a:pt x="0" y="28693"/>
                    <a:pt x="28693" y="0"/>
                    <a:pt x="640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344400" y="4762500"/>
              <a:ext cx="2590800" cy="3872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59"/>
                </a:lnSpc>
              </a:pPr>
              <a:r>
                <a:rPr lang="en-US" sz="3600" dirty="0" smtClean="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WPF </a:t>
              </a:r>
              <a:r>
                <a:rPr lang="sr-Cyrl-RS" sz="3600" dirty="0" smtClean="0">
                  <a:solidFill>
                    <a:srgbClr val="1B4440"/>
                  </a:solidFill>
                  <a:latin typeface="Calibri Light" pitchFamily="34" charset="0"/>
                  <a:ea typeface="Calibri Light" pitchFamily="34" charset="0"/>
                  <a:cs typeface="Calibri Light" pitchFamily="34" charset="0"/>
                  <a:sym typeface="Poppins"/>
                </a:rPr>
                <a:t>клијент</a:t>
              </a:r>
              <a:endParaRPr lang="en-US" sz="1899" dirty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endParaRPr>
            </a:p>
          </p:txBody>
        </p:sp>
      </p:grpSp>
      <p:sp>
        <p:nvSpPr>
          <p:cNvPr id="32" name="Freeform 30"/>
          <p:cNvSpPr/>
          <p:nvPr/>
        </p:nvSpPr>
        <p:spPr>
          <a:xfrm>
            <a:off x="-1066800" y="3619500"/>
            <a:ext cx="2766957" cy="2787228"/>
          </a:xfrm>
          <a:custGeom>
            <a:avLst/>
            <a:gdLst/>
            <a:ahLst/>
            <a:cxnLst/>
            <a:rect l="l" t="t" r="r" b="b"/>
            <a:pathLst>
              <a:path w="2766957" h="2787228">
                <a:moveTo>
                  <a:pt x="0" y="0"/>
                </a:moveTo>
                <a:lnTo>
                  <a:pt x="2766957" y="0"/>
                </a:lnTo>
                <a:lnTo>
                  <a:pt x="2766957" y="2787228"/>
                </a:lnTo>
                <a:lnTo>
                  <a:pt x="0" y="27872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"/>
                </a:ext>
              </a:extLst>
            </a:blip>
            <a:stretch>
              <a:fillRect/>
            </a:stretch>
          </a:blipFill>
        </p:spPr>
      </p:sp>
      <p:pic>
        <p:nvPicPr>
          <p:cNvPr id="39" name="Picture 38" descr="слика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400" y="3162300"/>
            <a:ext cx="4196869" cy="6259977"/>
          </a:xfrm>
          <a:prstGeom prst="rect">
            <a:avLst/>
          </a:prstGeom>
        </p:spPr>
      </p:pic>
      <p:sp>
        <p:nvSpPr>
          <p:cNvPr id="40" name="Right Bracket 39"/>
          <p:cNvSpPr/>
          <p:nvPr/>
        </p:nvSpPr>
        <p:spPr>
          <a:xfrm>
            <a:off x="10363200" y="6667500"/>
            <a:ext cx="228600" cy="2514600"/>
          </a:xfrm>
          <a:prstGeom prst="rightBracket">
            <a:avLst/>
          </a:prstGeom>
          <a:noFill/>
          <a:ln w="3810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ket 40"/>
          <p:cNvSpPr/>
          <p:nvPr/>
        </p:nvSpPr>
        <p:spPr>
          <a:xfrm>
            <a:off x="10363200" y="4381500"/>
            <a:ext cx="228600" cy="1295400"/>
          </a:xfrm>
          <a:prstGeom prst="rightBracket">
            <a:avLst/>
          </a:prstGeom>
          <a:noFill/>
          <a:ln w="3810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41" idx="2"/>
          </p:cNvCxnSpPr>
          <p:nvPr/>
        </p:nvCxnSpPr>
        <p:spPr>
          <a:xfrm rot="10800000" flipH="1" flipV="1">
            <a:off x="10591800" y="5029200"/>
            <a:ext cx="1295400" cy="38100"/>
          </a:xfrm>
          <a:prstGeom prst="line">
            <a:avLst/>
          </a:prstGeom>
          <a:ln w="3810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00400" y="14859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Cyrl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Модел поруке – </a:t>
            </a:r>
            <a:r>
              <a:rPr lang="en-US" sz="7599" u="none" strike="noStrike" dirty="0" err="1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Poruka.cs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962400" y="7810500"/>
            <a:ext cx="1043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Класа </a:t>
            </a:r>
            <a:r>
              <a:rPr lang="en-US" sz="32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Poruka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креира једну електронску поруку тако што моделује све кључне атрибуте једне поруке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/>
            </a:r>
            <a:b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</a:br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36" name="Picture 35" descr="poru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33700"/>
            <a:ext cx="6439406" cy="473906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48000" y="23241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Latn-RS" sz="7599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PorukeRepo</a:t>
            </a:r>
            <a:r>
              <a:rPr lang="sr-Latn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38800" y="6438900"/>
            <a:ext cx="7772400" cy="157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Омогућава складиштење порука</a:t>
            </a:r>
          </a:p>
          <a:p>
            <a:pPr algn="ctr">
              <a:lnSpc>
                <a:spcPct val="150000"/>
              </a:lnSpc>
            </a:pPr>
            <a:r>
              <a:rPr lang="sr-Cyrl-R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Зашто баш </a:t>
            </a:r>
            <a:r>
              <a:rPr lang="en-US" sz="36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ObservableCollection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?</a:t>
            </a:r>
            <a:endParaRPr lang="en-US" sz="3600" b="1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19" name="Picture 18" descr="Poruke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229100"/>
            <a:ext cx="16916400" cy="173687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24200" y="24003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Latn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IMAPSimulator.cs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267200" y="7734300"/>
            <a:ext cx="8991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Метода</a:t>
            </a:r>
            <a:r>
              <a:rPr lang="en-U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36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GetInbox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()</a:t>
            </a:r>
            <a:r>
              <a:rPr lang="sr-Cyrl-R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симулира команду 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FETCH</a:t>
            </a:r>
            <a:endParaRPr lang="sr-Cyrl-RS" sz="3600" b="1" dirty="0" smtClean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endParaRPr lang="en-US" sz="3200" dirty="0" smtClean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19" name="Picture 18" descr="ima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076700"/>
            <a:ext cx="11094095" cy="31242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24200" y="24003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Latn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IMAPSimulator.cs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19400" y="8343900"/>
            <a:ext cx="1318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Методе </a:t>
            </a:r>
            <a:r>
              <a:rPr lang="en-US" sz="36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MarkAsRead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() </a:t>
            </a:r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и</a:t>
            </a:r>
            <a:r>
              <a:rPr lang="en-U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36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MarkAsUnread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() </a:t>
            </a:r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симулирају команду 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STORE</a:t>
            </a:r>
            <a:endParaRPr lang="en-US" sz="3600" b="1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20" name="Picture 19" descr="im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3924300"/>
            <a:ext cx="7430211" cy="4140081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24200" y="24003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sr-Latn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IMAPSimulator.cs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0" y="6515100"/>
            <a:ext cx="922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Метода</a:t>
            </a:r>
            <a:r>
              <a:rPr lang="en-U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Delete()</a:t>
            </a:r>
            <a:r>
              <a:rPr lang="sr-Cyrl-R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sr-Cyrl-RS" sz="36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симулира комаду </a:t>
            </a:r>
            <a:r>
              <a:rPr lang="en-US" sz="36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EXPUNGE</a:t>
            </a:r>
            <a:endParaRPr lang="en-US" sz="3600" b="1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21" name="Picture 20" descr="ima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076700"/>
            <a:ext cx="8339912" cy="19812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48000" y="23241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 dirty="0" err="1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Receiver.xaml.cs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24400" y="6896100"/>
            <a:ext cx="967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Метода </a:t>
            </a:r>
            <a:r>
              <a:rPr lang="en-US" sz="3200" b="1" dirty="0" err="1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UpdateLists</a:t>
            </a:r>
            <a:r>
              <a:rPr lang="en-US" sz="3200" b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() 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-&gt; </a:t>
            </a: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преузима </a:t>
            </a:r>
            <a:r>
              <a:rPr lang="en-US" sz="3200" i="1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mailbox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одређеног корисника и распоређује поруке у одговарајућу листу</a:t>
            </a:r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19" name="Picture 18" descr="Rece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4000500"/>
            <a:ext cx="11869343" cy="242701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23"/>
          <p:cNvGrpSpPr/>
          <p:nvPr/>
        </p:nvGrpSpPr>
        <p:grpSpPr>
          <a:xfrm>
            <a:off x="-1862811" y="8424189"/>
            <a:ext cx="3725622" cy="372562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48000" y="1257300"/>
            <a:ext cx="1234360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9"/>
              </a:lnSpc>
              <a:spcBef>
                <a:spcPct val="0"/>
              </a:spcBef>
            </a:pPr>
            <a:r>
              <a:rPr lang="en-US" sz="7599" dirty="0" err="1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Message.xaml.cs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82000" y="2933700"/>
            <a:ext cx="967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Након што изаљемо из отворене/прочитане поруке позива се метода за означавање порука прочитаним</a:t>
            </a:r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19" name="Picture 18" descr="mes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33700"/>
            <a:ext cx="7239000" cy="1566650"/>
          </a:xfrm>
          <a:prstGeom prst="rect">
            <a:avLst/>
          </a:prstGeom>
        </p:spPr>
      </p:pic>
      <p:pic>
        <p:nvPicPr>
          <p:cNvPr id="20" name="Picture 19" descr="mes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067300"/>
            <a:ext cx="7249300" cy="1524000"/>
          </a:xfrm>
          <a:prstGeom prst="rect">
            <a:avLst/>
          </a:prstGeom>
        </p:spPr>
      </p:pic>
      <p:pic>
        <p:nvPicPr>
          <p:cNvPr id="21" name="Picture 20" descr="mes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7200900"/>
            <a:ext cx="7434553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58200" y="5143500"/>
            <a:ext cx="967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Кликом на дугме ,,Означи као непрочитано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” </a:t>
            </a: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позива се метода за означавање порука непрочитаним</a:t>
            </a:r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10600" y="7353300"/>
            <a:ext cx="967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Кликом на дугме ,,Обриши</a:t>
            </a:r>
            <a:r>
              <a:rPr lang="en-U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” </a:t>
            </a:r>
            <a:r>
              <a:rPr lang="sr-Cyrl-RS" sz="32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позива се метода за брисање порука</a:t>
            </a:r>
            <a:endParaRPr lang="en-US" sz="3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625723" y="-482826"/>
            <a:ext cx="3023051" cy="302305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07425" y="6791704"/>
            <a:ext cx="398339" cy="406320"/>
            <a:chOff x="0" y="0"/>
            <a:chExt cx="104912" cy="10701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752600" y="1333500"/>
            <a:ext cx="10247870" cy="1024787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713945" y="1630692"/>
            <a:ext cx="2768764" cy="2642912"/>
          </a:xfrm>
          <a:custGeom>
            <a:avLst/>
            <a:gdLst/>
            <a:ahLst/>
            <a:cxnLst/>
            <a:rect l="l" t="t" r="r" b="b"/>
            <a:pathLst>
              <a:path w="2768764" h="2642912">
                <a:moveTo>
                  <a:pt x="0" y="0"/>
                </a:moveTo>
                <a:lnTo>
                  <a:pt x="2768764" y="0"/>
                </a:lnTo>
                <a:lnTo>
                  <a:pt x="2768764" y="2642912"/>
                </a:lnTo>
                <a:lnTo>
                  <a:pt x="0" y="26429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3223213" y="2033370"/>
            <a:ext cx="2397137" cy="2240234"/>
          </a:xfrm>
          <a:custGeom>
            <a:avLst/>
            <a:gdLst/>
            <a:ahLst/>
            <a:cxnLst/>
            <a:rect l="l" t="t" r="r" b="b"/>
            <a:pathLst>
              <a:path w="2397137" h="2240234">
                <a:moveTo>
                  <a:pt x="0" y="0"/>
                </a:moveTo>
                <a:lnTo>
                  <a:pt x="2397138" y="0"/>
                </a:lnTo>
                <a:lnTo>
                  <a:pt x="2397138" y="2240234"/>
                </a:lnTo>
                <a:lnTo>
                  <a:pt x="0" y="2240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6400" y="5600700"/>
            <a:ext cx="7812811" cy="104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7599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РЕЗУЛТАТИ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15600" y="6286500"/>
            <a:ext cx="73914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Једноставан савремен кориснички интерејс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9982200" y="4305300"/>
            <a:ext cx="404286" cy="406320"/>
            <a:chOff x="9982200" y="4991100"/>
            <a:chExt cx="404286" cy="406320"/>
          </a:xfrm>
        </p:grpSpPr>
        <p:grpSp>
          <p:nvGrpSpPr>
            <p:cNvPr id="11" name="Group 11"/>
            <p:cNvGrpSpPr/>
            <p:nvPr/>
          </p:nvGrpSpPr>
          <p:grpSpPr>
            <a:xfrm>
              <a:off x="9982200" y="4991100"/>
              <a:ext cx="398339" cy="406320"/>
              <a:chOff x="0" y="0"/>
              <a:chExt cx="104912" cy="10701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04912" cy="164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9982200" y="5067300"/>
              <a:ext cx="404286" cy="283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515600" y="6819900"/>
            <a:ext cx="74676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9"/>
              </a:lnSpc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Подржава више различитих корисничких улога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004451" y="6829446"/>
            <a:ext cx="404286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sr-Cyrl-RS" sz="1599" dirty="0" smtClean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lang="en-US" sz="1599" dirty="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9982200" y="4686300"/>
            <a:ext cx="404286" cy="623312"/>
            <a:chOff x="9982200" y="4774108"/>
            <a:chExt cx="404286" cy="623312"/>
          </a:xfrm>
        </p:grpSpPr>
        <p:grpSp>
          <p:nvGrpSpPr>
            <p:cNvPr id="33" name="Group 11"/>
            <p:cNvGrpSpPr/>
            <p:nvPr/>
          </p:nvGrpSpPr>
          <p:grpSpPr>
            <a:xfrm>
              <a:off x="9982200" y="4774108"/>
              <a:ext cx="398339" cy="623312"/>
              <a:chOff x="0" y="-57150"/>
              <a:chExt cx="104912" cy="164164"/>
            </a:xfrm>
          </p:grpSpPr>
          <p:sp>
            <p:nvSpPr>
              <p:cNvPr id="35" name="Freeform 12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36" name="TextBox 13"/>
              <p:cNvSpPr txBox="1"/>
              <p:nvPr/>
            </p:nvSpPr>
            <p:spPr>
              <a:xfrm>
                <a:off x="0" y="-57150"/>
                <a:ext cx="104912" cy="164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28"/>
            <p:cNvSpPr txBox="1"/>
            <p:nvPr/>
          </p:nvSpPr>
          <p:spPr>
            <a:xfrm>
              <a:off x="9982200" y="5067300"/>
              <a:ext cx="404286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dirty="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9982200" y="5981700"/>
            <a:ext cx="404286" cy="623312"/>
            <a:chOff x="9982200" y="4774108"/>
            <a:chExt cx="404286" cy="623312"/>
          </a:xfrm>
        </p:grpSpPr>
        <p:grpSp>
          <p:nvGrpSpPr>
            <p:cNvPr id="38" name="Group 11"/>
            <p:cNvGrpSpPr/>
            <p:nvPr/>
          </p:nvGrpSpPr>
          <p:grpSpPr>
            <a:xfrm>
              <a:off x="9982200" y="4774108"/>
              <a:ext cx="398339" cy="623312"/>
              <a:chOff x="0" y="-57150"/>
              <a:chExt cx="104912" cy="164164"/>
            </a:xfrm>
          </p:grpSpPr>
          <p:sp>
            <p:nvSpPr>
              <p:cNvPr id="40" name="Freeform 12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41" name="TextBox 13"/>
              <p:cNvSpPr txBox="1"/>
              <p:nvPr/>
            </p:nvSpPr>
            <p:spPr>
              <a:xfrm>
                <a:off x="0" y="-57150"/>
                <a:ext cx="104912" cy="164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28"/>
            <p:cNvSpPr txBox="1"/>
            <p:nvPr/>
          </p:nvSpPr>
          <p:spPr>
            <a:xfrm>
              <a:off x="9982200" y="5067300"/>
              <a:ext cx="404286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sr-Cyrl-RS" sz="1599" dirty="0" smtClean="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endPara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982200" y="5295900"/>
            <a:ext cx="404286" cy="623312"/>
            <a:chOff x="9982200" y="4774108"/>
            <a:chExt cx="404286" cy="623312"/>
          </a:xfrm>
        </p:grpSpPr>
        <p:grpSp>
          <p:nvGrpSpPr>
            <p:cNvPr id="43" name="Group 11"/>
            <p:cNvGrpSpPr/>
            <p:nvPr/>
          </p:nvGrpSpPr>
          <p:grpSpPr>
            <a:xfrm>
              <a:off x="9982200" y="4774108"/>
              <a:ext cx="398339" cy="623312"/>
              <a:chOff x="0" y="-57150"/>
              <a:chExt cx="104912" cy="164164"/>
            </a:xfrm>
          </p:grpSpPr>
          <p:sp>
            <p:nvSpPr>
              <p:cNvPr id="45" name="Freeform 12"/>
              <p:cNvSpPr/>
              <p:nvPr/>
            </p:nvSpPr>
            <p:spPr>
              <a:xfrm>
                <a:off x="0" y="0"/>
                <a:ext cx="104912" cy="107014"/>
              </a:xfrm>
              <a:custGeom>
                <a:avLst/>
                <a:gdLst/>
                <a:ahLst/>
                <a:cxnLst/>
                <a:rect l="l" t="t" r="r" b="b"/>
                <a:pathLst>
                  <a:path w="104912" h="107014">
                    <a:moveTo>
                      <a:pt x="52456" y="0"/>
                    </a:moveTo>
                    <a:lnTo>
                      <a:pt x="52456" y="0"/>
                    </a:lnTo>
                    <a:cubicBezTo>
                      <a:pt x="66368" y="0"/>
                      <a:pt x="79711" y="5527"/>
                      <a:pt x="89548" y="15364"/>
                    </a:cubicBezTo>
                    <a:cubicBezTo>
                      <a:pt x="99386" y="25201"/>
                      <a:pt x="104912" y="38544"/>
                      <a:pt x="104912" y="52456"/>
                    </a:cubicBezTo>
                    <a:lnTo>
                      <a:pt x="104912" y="54558"/>
                    </a:lnTo>
                    <a:cubicBezTo>
                      <a:pt x="104912" y="83529"/>
                      <a:pt x="81427" y="107014"/>
                      <a:pt x="52456" y="107014"/>
                    </a:cubicBezTo>
                    <a:lnTo>
                      <a:pt x="52456" y="107014"/>
                    </a:lnTo>
                    <a:cubicBezTo>
                      <a:pt x="38544" y="107014"/>
                      <a:pt x="25201" y="101488"/>
                      <a:pt x="15364" y="91650"/>
                    </a:cubicBezTo>
                    <a:cubicBezTo>
                      <a:pt x="5527" y="81813"/>
                      <a:pt x="0" y="68470"/>
                      <a:pt x="0" y="54558"/>
                    </a:cubicBezTo>
                    <a:lnTo>
                      <a:pt x="0" y="52456"/>
                    </a:lnTo>
                    <a:cubicBezTo>
                      <a:pt x="0" y="23485"/>
                      <a:pt x="23485" y="0"/>
                      <a:pt x="5245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CE9F3">
                      <a:alpha val="75500"/>
                    </a:srgbClr>
                  </a:gs>
                  <a:gs pos="100000">
                    <a:srgbClr val="DBD2EA">
                      <a:alpha val="71500"/>
                    </a:srgbClr>
                  </a:gs>
                </a:gsLst>
                <a:lin ang="0"/>
              </a:gra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46" name="TextBox 13"/>
              <p:cNvSpPr txBox="1"/>
              <p:nvPr/>
            </p:nvSpPr>
            <p:spPr>
              <a:xfrm>
                <a:off x="0" y="-57150"/>
                <a:ext cx="104912" cy="1641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28"/>
            <p:cNvSpPr txBox="1"/>
            <p:nvPr/>
          </p:nvSpPr>
          <p:spPr>
            <a:xfrm>
              <a:off x="9982200" y="5067300"/>
              <a:ext cx="404286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sr-Cyrl-RS" sz="1599" dirty="0" smtClean="0">
                  <a:solidFill>
                    <a:srgbClr val="1B4440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lang="en-US" sz="1599" dirty="0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7" name="TextBox 27"/>
          <p:cNvSpPr txBox="1"/>
          <p:nvPr/>
        </p:nvSpPr>
        <p:spPr>
          <a:xfrm>
            <a:off x="10515600" y="5448300"/>
            <a:ext cx="5651367" cy="70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Сортирање и промена статуса поруке у реалном времену 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48" name="TextBox 27"/>
          <p:cNvSpPr txBox="1"/>
          <p:nvPr/>
        </p:nvSpPr>
        <p:spPr>
          <a:xfrm>
            <a:off x="10515600" y="4914900"/>
            <a:ext cx="7010400" cy="354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Приказ метаподатака поруке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  <p:sp>
        <p:nvSpPr>
          <p:cNvPr id="49" name="TextBox 27"/>
          <p:cNvSpPr txBox="1"/>
          <p:nvPr/>
        </p:nvSpPr>
        <p:spPr>
          <a:xfrm>
            <a:off x="10515600" y="4381500"/>
            <a:ext cx="5651367" cy="35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Успешна симулација </a:t>
            </a:r>
            <a:r>
              <a:rPr lang="en-U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IMAP </a:t>
            </a:r>
            <a:r>
              <a:rPr lang="sr-Cyrl-RS" sz="28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протокола</a:t>
            </a:r>
            <a:endParaRPr lang="en-US" sz="28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47" grpId="0"/>
      <p:bldP spid="48" grpId="0"/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1722" y="-652517"/>
            <a:ext cx="2789157" cy="27891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25028" y="2552700"/>
            <a:ext cx="6362972" cy="63629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820400" y="2552700"/>
            <a:ext cx="4895539" cy="5168036"/>
          </a:xfrm>
          <a:custGeom>
            <a:avLst/>
            <a:gdLst/>
            <a:ahLst/>
            <a:cxnLst/>
            <a:rect l="l" t="t" r="r" b="b"/>
            <a:pathLst>
              <a:path w="4895539" h="5168036">
                <a:moveTo>
                  <a:pt x="0" y="0"/>
                </a:moveTo>
                <a:lnTo>
                  <a:pt x="4895539" y="0"/>
                </a:lnTo>
                <a:lnTo>
                  <a:pt x="4895539" y="5168036"/>
                </a:lnTo>
                <a:lnTo>
                  <a:pt x="0" y="5168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401800" y="1638300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73446">
            <a:off x="-1199208" y="6665144"/>
            <a:ext cx="4024128" cy="3877796"/>
          </a:xfrm>
          <a:custGeom>
            <a:avLst/>
            <a:gdLst/>
            <a:ahLst/>
            <a:cxnLst/>
            <a:rect l="l" t="t" r="r" b="b"/>
            <a:pathLst>
              <a:path w="4024128" h="3877796">
                <a:moveTo>
                  <a:pt x="0" y="0"/>
                </a:moveTo>
                <a:lnTo>
                  <a:pt x="4024129" y="0"/>
                </a:lnTo>
                <a:lnTo>
                  <a:pt x="4024129" y="3877797"/>
                </a:lnTo>
                <a:lnTo>
                  <a:pt x="0" y="3877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6316" y="2688952"/>
            <a:ext cx="8991684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  <a:spcBef>
                <a:spcPct val="0"/>
              </a:spcBef>
            </a:pPr>
            <a:r>
              <a:rPr lang="sr-Cyrl-RS" sz="7599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Могућа проширења</a:t>
            </a:r>
            <a:endParaRPr lang="en-US" sz="7599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76400" y="4076700"/>
            <a:ext cx="10820400" cy="4778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Повезивање са стварним </a:t>
            </a:r>
            <a:r>
              <a:rPr lang="en-U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IMAP </a:t>
            </a: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сервером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Повезивање на базу података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SSL/TLS </a:t>
            </a:r>
            <a:endParaRPr lang="sr-Cyrl-RS" sz="32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Додавање прилога уз поруке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Више фолдера (Пријем, Слање, Обрисане поруке...)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Додавање напредних </a:t>
            </a:r>
            <a:r>
              <a:rPr lang="en-U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IMAP </a:t>
            </a: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комади</a:t>
            </a:r>
            <a:r>
              <a:rPr lang="en-U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  </a:t>
            </a:r>
            <a:r>
              <a:rPr lang="sr-Cyrl-R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(</a:t>
            </a:r>
            <a:r>
              <a:rPr lang="en-US" sz="32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SEARCH, MOVE, IDLE)</a:t>
            </a:r>
            <a:endParaRPr lang="sr-Cyrl-RS" sz="3200" dirty="0" smtClean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  <a:p>
            <a:pPr algn="just">
              <a:lnSpc>
                <a:spcPts val="2659"/>
              </a:lnSpc>
            </a:pPr>
            <a:endParaRPr lang="en-US" sz="1899" dirty="0">
              <a:solidFill>
                <a:srgbClr val="1B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81186" y="8234548"/>
            <a:ext cx="2788622" cy="278862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37248" y="2216306"/>
            <a:ext cx="1810143" cy="18101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666389" y="7354116"/>
            <a:ext cx="3232638" cy="2932884"/>
          </a:xfrm>
          <a:custGeom>
            <a:avLst/>
            <a:gdLst/>
            <a:ahLst/>
            <a:cxnLst/>
            <a:rect l="l" t="t" r="r" b="b"/>
            <a:pathLst>
              <a:path w="3232638" h="2932884">
                <a:moveTo>
                  <a:pt x="0" y="0"/>
                </a:moveTo>
                <a:lnTo>
                  <a:pt x="3232638" y="0"/>
                </a:lnTo>
                <a:lnTo>
                  <a:pt x="3232638" y="2932884"/>
                </a:lnTo>
                <a:lnTo>
                  <a:pt x="0" y="2932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389582" y="2581902"/>
            <a:ext cx="2836565" cy="2889094"/>
          </a:xfrm>
          <a:custGeom>
            <a:avLst/>
            <a:gdLst/>
            <a:ahLst/>
            <a:cxnLst/>
            <a:rect l="l" t="t" r="r" b="b"/>
            <a:pathLst>
              <a:path w="2836565" h="2889094">
                <a:moveTo>
                  <a:pt x="0" y="0"/>
                </a:moveTo>
                <a:lnTo>
                  <a:pt x="2836564" y="0"/>
                </a:lnTo>
                <a:lnTo>
                  <a:pt x="2836564" y="2889094"/>
                </a:lnTo>
                <a:lnTo>
                  <a:pt x="0" y="2889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10000" y="2933700"/>
            <a:ext cx="10720753" cy="452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Апликација успешно симулира основне </a:t>
            </a:r>
            <a:r>
              <a:rPr lang="en-U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IMAP </a:t>
            </a: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функције и   поједностављује разумевање рада протокола.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Реализоване су кључне операције управљања порукама (</a:t>
            </a:r>
            <a:r>
              <a:rPr lang="en-U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FETCH, </a:t>
            </a: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STORE, EXPUNGE) </a:t>
            </a: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на јасан и прегледан начин.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sr-Cyrl-RS" sz="2800" dirty="0" smtClean="0"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Симулација представља добру основу за даље унапређење – повезивање са стварним сервером, базом и безбедносним механизмима.</a:t>
            </a:r>
            <a:endParaRPr lang="sr-Cyrl-RS" sz="28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24200" y="1485900"/>
            <a:ext cx="12694380" cy="1178015"/>
          </a:xfrm>
          <a:prstGeom prst="rect">
            <a:avLst/>
          </a:prstGeom>
          <a:ln w="19050">
            <a:noFill/>
          </a:ln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639"/>
              </a:lnSpc>
              <a:spcBef>
                <a:spcPct val="0"/>
              </a:spcBef>
            </a:pPr>
            <a:r>
              <a:rPr lang="sr-Cyrl-RS" sz="6000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Закључак</a:t>
            </a:r>
            <a:endParaRPr lang="en-US" sz="8000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47096" y="4568466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64903" y="3699164"/>
            <a:ext cx="13358194" cy="21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5"/>
              </a:lnSpc>
              <a:spcBef>
                <a:spcPct val="0"/>
              </a:spcBef>
            </a:pPr>
            <a:r>
              <a:rPr lang="sr-Cyrl-RS" sz="15805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Питања?</a:t>
            </a:r>
            <a:endParaRPr lang="en-US" sz="15805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388933" y="2169368"/>
            <a:ext cx="2874126" cy="2602391"/>
          </a:xfrm>
          <a:custGeom>
            <a:avLst/>
            <a:gdLst/>
            <a:ahLst/>
            <a:cxnLst/>
            <a:rect l="l" t="t" r="r" b="b"/>
            <a:pathLst>
              <a:path w="2874126" h="2602391">
                <a:moveTo>
                  <a:pt x="0" y="0"/>
                </a:moveTo>
                <a:lnTo>
                  <a:pt x="2874126" y="0"/>
                </a:lnTo>
                <a:lnTo>
                  <a:pt x="2874126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47096" y="4568466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64903" y="3699164"/>
            <a:ext cx="13358194" cy="217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595"/>
              </a:lnSpc>
              <a:spcBef>
                <a:spcPct val="0"/>
              </a:spcBef>
            </a:pPr>
            <a:r>
              <a:rPr lang="sr-Cyrl-RS" sz="15805" u="none" strike="noStrike" dirty="0" smtClean="0">
                <a:ln w="28575">
                  <a:solidFill>
                    <a:srgbClr val="009999"/>
                  </a:solidFill>
                </a:ln>
                <a:solidFill>
                  <a:srgbClr val="009999"/>
                </a:solidFill>
                <a:latin typeface="Bahnschrift" pitchFamily="34" charset="0"/>
                <a:ea typeface="Sniglet"/>
                <a:cs typeface="Sniglet"/>
                <a:sym typeface="Sniglet"/>
              </a:rPr>
              <a:t>Крај</a:t>
            </a:r>
            <a:endParaRPr lang="en-US" sz="15805" u="none" strike="noStrike" dirty="0">
              <a:ln w="28575">
                <a:solidFill>
                  <a:srgbClr val="009999"/>
                </a:solidFill>
              </a:ln>
              <a:solidFill>
                <a:srgbClr val="009999"/>
              </a:solidFill>
              <a:latin typeface="Bahnschrift" pitchFamily="34" charset="0"/>
              <a:ea typeface="Sniglet"/>
              <a:cs typeface="Sniglet"/>
              <a:sym typeface="Sniglet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388933" y="2169368"/>
            <a:ext cx="2874126" cy="2602391"/>
          </a:xfrm>
          <a:custGeom>
            <a:avLst/>
            <a:gdLst/>
            <a:ahLst/>
            <a:cxnLst/>
            <a:rect l="l" t="t" r="r" b="b"/>
            <a:pathLst>
              <a:path w="2874126" h="2602391">
                <a:moveTo>
                  <a:pt x="0" y="0"/>
                </a:moveTo>
                <a:lnTo>
                  <a:pt x="2874126" y="0"/>
                </a:lnTo>
                <a:lnTo>
                  <a:pt x="2874126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Video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B4440"/>
                </a:solidFill>
                <a:latin typeface="Poppins"/>
                <a:ea typeface="Poppins"/>
                <a:cs typeface="Poppins"/>
                <a:sym typeface="Poppins"/>
              </a:rPr>
              <a:t>Profile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59042" y="6259471"/>
            <a:ext cx="12769916" cy="48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sr-Cyrl-RS" sz="6600" dirty="0" smtClean="0">
                <a:solidFill>
                  <a:srgbClr val="1B4440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  <a:sym typeface="Poppins"/>
              </a:rPr>
              <a:t>Хвала на пажњи</a:t>
            </a:r>
            <a:endParaRPr lang="en-US" sz="6600" dirty="0">
              <a:solidFill>
                <a:srgbClr val="1B4440"/>
              </a:solidFill>
              <a:latin typeface="Calibri Light" pitchFamily="34" charset="0"/>
              <a:ea typeface="Calibri Light" pitchFamily="34" charset="0"/>
              <a:cs typeface="Calibri Light" pitchFamily="34" charset="0"/>
              <a:sym typeface="Poppins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495</Words>
  <Application>Microsoft Office PowerPoint</Application>
  <PresentationFormat>Custom</PresentationFormat>
  <Paragraphs>145</Paragraphs>
  <Slides>21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Bahnschrift</vt:lpstr>
      <vt:lpstr>Sniglet</vt:lpstr>
      <vt:lpstr>Calibri Light</vt:lpstr>
      <vt:lpstr>Poppins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Will You Be My Valentine Proposal Slides</dc:title>
  <dc:creator>Dell</dc:creator>
  <cp:lastModifiedBy>Dell</cp:lastModifiedBy>
  <cp:revision>50</cp:revision>
  <dcterms:created xsi:type="dcterms:W3CDTF">2006-08-16T00:00:00Z</dcterms:created>
  <dcterms:modified xsi:type="dcterms:W3CDTF">2025-12-17T17:48:43Z</dcterms:modified>
  <dc:identifier>DAG5QTRxqbc</dc:identifier>
</cp:coreProperties>
</file>